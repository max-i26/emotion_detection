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09728"/>
            <a:ext cx="121889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9A06"/>
                </a:solidFill>
              </a:rPr>
              <a:t>Capstone Project in Data Science II  -  DS4105</a:t>
            </a:r>
          </a:p>
        </p:txBody>
      </p:sp>
      <p:pic>
        <p:nvPicPr>
          <p:cNvPr id="4" name="Picture 3" descr="Screenshot 2026-08-29 0953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005840"/>
            <a:ext cx="164592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051560"/>
            <a:ext cx="8961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3964"/>
                </a:solidFill>
              </a:rPr>
              <a:t>REAL-TIME FACIAL EMOTION RECOGNITION
USING MEDIAPIPE AND DEEP CNN WITH FOCAL 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6858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F3964"/>
                </a:solidFill>
              </a:rPr>
              <a:t>Department of Data Science
Faculty of Computing
Sabaragamuwa University of Sri Lanka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315968"/>
            <a:ext cx="8229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1010"/>
                </a:solidFill>
              </a:rPr>
              <a:t>Index No     :  22CDS0439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73168"/>
            <a:ext cx="8229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1010"/>
                </a:solidFill>
              </a:rPr>
              <a:t>Name         :  Harol Maxilan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30368"/>
            <a:ext cx="82296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1010"/>
                </a:solidFill>
              </a:rPr>
              <a:t>Supervisor   :  Mr. Dimuthu Lakshan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263640"/>
            <a:ext cx="121889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01010"/>
                </a:solidFill>
              </a:rPr>
              <a:t>1.   Introduction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2.   Background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3.   Specification and Design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4.   Data Collection and Preprocessing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5.   Feature Engineering and Selection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6.   Model Selection, Training and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01010"/>
                </a:solidFill>
              </a:rPr>
              <a:t>7.   Model Deployment and Integration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8.   Results and Conclusion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9.   Future Works and Recommendations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10.  References</a:t>
            </a:r>
          </a:p>
          <a:p>
            <a:pPr algn="l"/>
            <a:r>
              <a:rPr sz="1700" b="0">
                <a:solidFill>
                  <a:srgbClr val="101010"/>
                </a:solidFill>
              </a:rPr>
              <a:t>11. 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Introduction to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1010"/>
                </a:solidFill>
              </a:rPr>
              <a:t>What is Facial Emotion Recognition (FER)?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A computer looks at a face and figures out how the person feels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Like a teacher who knows if students are confused just by looking at them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The Problem We Are Solving: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People show 7 emotions: Angry, Disgust, Fear, Happy, Sad, Surprise, Neutral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Computers cannot feel -- but they can be trained to read faces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Existing systems struggle with rare emotions and flickering predictions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Why Does This Matter?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E-learning: adapt lessons if student looks confused or bored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Driver safety: alert driver when face shows fatigue or fear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Mental health tools: track emotional state over time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Scope of This Project: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Real-time webcam input  =&gt;  7 emotion labels  =&gt;  30 FPS output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Single laptop, no internet, no special hardware needed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Background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1010"/>
                </a:solidFill>
              </a:rPr>
              <a:t>Dataset Used: FER2013  (Goodfellow et al., 2013) [1]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35,887 grayscale face images at 48 x 48 pixels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7 emotion categories -- images collected from Google Images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Some images are mislabelled  --&gt;  human accuracy ceiling is about 65%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The Big Problem -- Class Imbalance: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Happy class  = 7,215 training images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Disgust class = only 436 training images  (16.5 times fewer!)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Standard training ignores Disgust -- model barely learns it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Project Objectives: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O1: Design a 4-Stage Deep CNN trained on FER2013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O2: Apply Focal Loss + Label Smoothing to fix class imbalance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O3: Integrate MediaPipe for fast and reliable face detection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O4: Build a real-time system running at 28-30 FPS on a regular laptop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O5: Achieve test accuracy close to the human baseline of ~65%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SPECIFICATION &amp;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Use Case Diagram and 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1010"/>
                </a:solidFill>
              </a:rPr>
              <a:t>Use Case Diagram -- 6 Use Cases: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UC-1: Launch System (user runs the program)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UC-2: Capture Video Frame from webcam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UC-3: Detect Face using MediaPipe BlazeFace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UC-4: Preprocess the Face Region (crop, resize to 48x48, normalise)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UC-5: Classify Emotion using the 4-Stage CNN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UC-6: Smooth Prediction and Display emotion label on screen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System Architecture -- 5-Stage Processing Pipeline: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Webcam  --&gt;  Face Detection  --&gt;  ROI Preprocessing  --&gt;  CNN  --&gt;  Display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Key Functional Requirements: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FR-01: Accept 720p webcam at 30 FPS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FR-04: Classify into 7 emotions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FR-05: Apply 10-frame majority-vote for stable predictions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FR-07: Exit cleanly on Q key press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Non-Functional: Min 20 FPS  |  Min 60% accuracy  |  Single-click startup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DATA COLLECTION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Collection and Preprocessing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The FER2013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3035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Total images: 35,887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Training images: 28,709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Test images: 7,178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Image size: 48 x 48 pixels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Type: Grayscale (black &amp; white)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7 emotion categories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Source: Automated Google Image search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WARNING - Mislabelled images exist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Human accuracy ceiling: ~65%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Disgust (436) vs Happy (7,215) = 16.5x gap</a:t>
            </a:r>
          </a:p>
        </p:txBody>
      </p:sp>
      <p:sp>
        <p:nvSpPr>
          <p:cNvPr id="7" name="Rectangle 6"/>
          <p:cNvSpPr/>
          <p:nvPr/>
        </p:nvSpPr>
        <p:spPr>
          <a:xfrm>
            <a:off x="5971032" y="1207008"/>
            <a:ext cx="54864" cy="530352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2344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Preprocessing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6420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Step 1: Load images as grayscale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Step 2: Divide pixels by 255 --&gt; [0.0 to 1.0]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Step 3: Reshape to (48, 48, 1) tensor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Step 4: 85% training / 15% validation split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Step 5: Shuffle training batches each epoch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Data Augmentation (training only):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Rotate +/- 20 degrees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Flip left-right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Zoom +/- 15%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Shift +/- 15%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Brightness change 0.8 to 1.2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Shear 0.15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FEATURE ENGINEERING &amp;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Features Are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01010"/>
                </a:solidFill>
              </a:rPr>
              <a:t>We do NOT hand-craft features -- the CNN learns them automatically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How Convolutional Filters Work: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A 3x3 grid of numbers slides across the entire image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Each filter detects a specific pattern (edges, curves, textures)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What Each Block Learns: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Block 1 (64 filters):   Simple edges -- straight lines and corners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Block 2 (128 filters):  Simple shapes -- eye outline, nose curve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Block 3 (256 filters):  Face parts -- raised eyebrows, open mouth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Block 4 (512 filters):  Full emotion patterns (Fear vs Surprise)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>Why Grayscale Images?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Emotion comes from facial shape, not colour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Simpler model, faster training, same accuracy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Global Average Pooling (instead of Flatten):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Compresses 3x3 feature maps into 512 numbers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9 times fewer parameters --&gt; much less risk of overfitting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MODEL SELECTION, TRAINING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Model Architecture and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4-Stage Deep ConvNet  (Custom CNN)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3035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Input: 48x48 grayscale face image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Block 1: Conv2D(64) x2 + BatchNorm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MaxPool + Dropout 25%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Block 2: Conv2D(128) x2 + BatchNorm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MaxPool + Dropout 30%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Block 3: Conv2D(256) x2 + BatchNorm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MaxPool + Dropout 35%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Block 4: Conv2D(512) x2 + BatchNorm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MaxPool + Dropout 40%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Head:    GlobalAvgPool --&gt; Dense(256)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Dropout 50% --&gt; Dense(7, Softmax)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Total parameters: ~6.4 million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71032" y="1207008"/>
            <a:ext cx="54864" cy="530352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2344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Training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6420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1010"/>
                </a:solidFill>
              </a:rPr>
              <a:t>Loss function: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Focal Loss (gamma = 2.0)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+ Label Smoothing (epsilon = 0.1)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Optimiser: Adam  (lr = 0.001)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Batch size: 32 images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Max epochs: 60  (stopped at epoch 52)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Class Weighting: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Disgust weight = 4.8x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Happy weight = 0.55x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Training time: ~3.5 hours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GPU: NVIDIA RTX 2050 via WSL2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EarlyStopping: patience = 12 epochs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MODEL DEPLOYMENT &amp;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Real-Time System and 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</a:rPr>
              <a:t>Real-Time Pipeline -- each frame (30 per second):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Step 1: OpenCV reads 720p camera frame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Step 2: Convert colour BGR to RGB for MediaPipe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Step 3: MediaPipe BlazeFace detects face in 3-5 ms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Step 4: Crop face --&gt; grayscale --&gt; resize 48x48 --&gt; divide by 255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Step 5: CNN predicts 7 probabilities in 12-18 ms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Step 6: Add to 10-frame memory --&gt; majority vote --&gt; stable label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Step 7: Show emotion label and score on screen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Technology Stack: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Language      :  Python 3.10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ML Framework  :  TensorFlow 2.15  |  Keras 2.15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Vision        :  MediaPipe 0.10.9  |  OpenCV 4.8.0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Numerics      :  NumPy 1.26.4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Launcher      :  run_webcam.bat  (one double-click on Windows)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Training Env  :  WSL2 + NVIDIA RTX 2050 GPU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Versioning    :  Git + GitHub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RESULTS &amp;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and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5303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Classification Results  (7,178 test images)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3035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Overall Test Accuracy :  63.51%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Weighted F1-Score     :  62.91%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Human Baseline (FER2013) :  ~65%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Gap from human baseline  :  only 1.49%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Per-Class F1 Scores: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Happy    :  84.28%  (best)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Neutral  :  75.44%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Sad      :  61.08%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Angry    :  56.88%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Disgust  :  54.22%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Surprise :  49.17%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Fear     :  41.21%  (hardest)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Real-Time: 28-30 FPS on regular laptop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All 10 live test cases: PASSED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71032" y="1207008"/>
            <a:ext cx="54864" cy="530352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2344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964"/>
                </a:solidFill>
              </a:rPr>
              <a:t>Conclusions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664208"/>
            <a:ext cx="566928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Achieved near-human accuracy on FER2013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What worked best: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Focal Loss fixed imbalance (+4.13%)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4-Stage depth improved accuracy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10-frame buffer removed flickering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MediaPipe gave fast stable detection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Ablation Study Summary: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Baseline (3-Block + CCE):     57.34%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+ Focal Loss only:            61.47%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+ Label Smoothing only:       58.73%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Full Proposed System:         63.51%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Each part adds improvement!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00" b="1">
                <a:solidFill>
                  <a:srgbClr val="101010"/>
                </a:solidFill>
              </a:rPr>
              <a:t>Key remaining challenge:</a:t>
            </a:r>
          </a:p>
          <a:p>
            <a:pPr algn="l"/>
            <a:r>
              <a:rPr sz="1150" b="0">
                <a:solidFill>
                  <a:srgbClr val="101010"/>
                </a:solidFill>
              </a:rPr>
              <a:t>      Disgust recall still only 40%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FUTURE WORKS &amp;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What Can Be Improved Next?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1010"/>
                </a:solidFill>
              </a:rPr>
              <a:t>1. Face-Specific Transfer Learning: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Use VGGFace2 or AffectNet pretrained model as the starting point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Trained on millions of real faces -- gives much better features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Expected improvement: +4 to 8% accuracy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2. Vision Transformer (ViT) Architecture: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Self-attention connects eyebrow movements with mouth patterns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Better at spotting emotion cues spread across the whole face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3. Multimodal Emotion Recognition: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Combine face + voice + body language for higher reliability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Much more useful in noisy, real-world conditions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4. Fix Demographic Bias: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Test on different ages, ethnicities, and genders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Apply corrections where any group performs worse</a:t>
            </a:r>
          </a:p>
          <a:p>
            <a:pPr algn="l"/>
            <a:r>
              <a:rPr sz="14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400" b="1">
                <a:solidFill>
                  <a:srgbClr val="101010"/>
                </a:solidFill>
              </a:rPr>
              <a:t>5. Continuous Emotion Modelling: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Instead of 7 fixed labels, predict emotion on a sliding scale</a:t>
            </a:r>
          </a:p>
          <a:p>
            <a:pPr algn="l"/>
            <a:r>
              <a:rPr sz="1250" b="0">
                <a:solidFill>
                  <a:srgbClr val="101010"/>
                </a:solidFill>
              </a:rPr>
              <a:t>      More nuanced and useful for clinical and educational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References  (IEEE Format)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01010"/>
                </a:solidFill>
              </a:rPr>
              <a:t>[1]  Goodfellow et al., Challenges in Representation Learning, ICONIP 2013.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[2]  T.-Y. Lin et al., Focal Loss for Dense Object Detection, ICCV 2017.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[3]  Lugaresi et al., MediaPipe: A Framework for Perception Pipelines, arXiv 2019.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[4]  P. Viola and M. J. Jones, Robust Real-Time Face Detection, IJCV vol.57, 2004.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[5]  K. Simonyan and A. Zisserman, Very Deep Convolutional Networks, ICLR 2015.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[6]  M. Tan and Q. V. Le, EfficientNet: Rethinking Model Scaling, ICML 2019.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[7]  S. Ioffe and C. Szegedy, Batch Normalization, ICML 2015.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[8]  N. Srivastava et al., Dropout, JMLR vol.15, 2014.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[9]  K. He et al., Deep Residual Learning for Image Recognition, CVPR 2016.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[10] A. Dosovitskiy et al., An Image is Worth 16x16 Words, ICLR 2021.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[11] R. W. Picard, Affective Computing. MIT Press, 1997.</a:t>
            </a:r>
          </a:p>
          <a:p>
            <a:pPr algn="l"/>
            <a:r>
              <a:rPr sz="1300" b="0">
                <a:solidFill>
                  <a:srgbClr val="101010"/>
                </a:solidFill>
              </a:rPr>
              <a:t>[12] P. Ekman and W. V. Friesen, Constants Across Cultures, J. Personality &amp; Social Psych., 1971.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45720"/>
            <a:ext cx="114300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9A06"/>
                </a:solidFill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75488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Live System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964"/>
                </a:solidFill>
              </a:rPr>
              <a:t>GitHub Repository: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6479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</a:rPr>
              <a:t>https://github.com/Max-i26/emotion_detection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42316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964"/>
                </a:solidFill>
              </a:rPr>
              <a:t>To Run the Live Demo: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907792"/>
            <a:ext cx="111556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01010"/>
                </a:solidFill>
              </a:rPr>
              <a:t>Step 1:  Open Windows PowerShell or Command Prompt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Step 2:  Navigate to:   cd F:\emotion-detection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Step 3:  Activate:      .\venv_win\Scripts\activate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Step 4:  Run:           python live_detect_pro.py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>Step 5:  Press the  Q  key to close the camera window</a:t>
            </a:r>
          </a:p>
          <a:p>
            <a:pPr algn="l"/>
            <a:r>
              <a:rPr sz="1500" b="0">
                <a:solidFill>
                  <a:srgbClr val="101010"/>
                </a:solidFill>
              </a:rPr>
              <a:t/>
            </a:r>
          </a:p>
          <a:p>
            <a:pPr algn="l"/>
            <a:r>
              <a:rPr sz="1350" b="0">
                <a:solidFill>
                  <a:srgbClr val="101010"/>
                </a:solidFill>
              </a:rPr>
              <a:t>      OR  --  simply double-click:   run_webcam.bat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0" y="6510528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Department of Data Science | Faculty of Computing | SUSL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889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C99A06"/>
                </a:solidFill>
              </a:rPr>
              <a:t>Questions &amp;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889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Harol Maxilan  |  22CDS0439  |  Department of Data Science, SUSL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